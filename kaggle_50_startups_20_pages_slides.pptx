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利潤預測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49808" y="20848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20-page presentation • CRISP-DM Framework • 2026/06/11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86868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9784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21040" y="10058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0100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根據新創公司的支出特徵預測 Profit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818120" y="21488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7848" y="2258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21040" y="22860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資料集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2651760"/>
            <a:ext cx="3108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50 筆 startup records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818120" y="342900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3538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⚙️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35661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01000" y="3931920"/>
            <a:ext cx="3108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CRISP-DM + sklearn Pipeline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Data → Insight → Impact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1/20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專案摘要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was completed in Homework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2/20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344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 ML Workflow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1089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從資料理解、前處理、建模、評估到部署，完成端到端流程。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關鍵結果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31089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最佳特徵組合為 R&amp;D Spend + Marketing Spend，R² = 94.74%。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1371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可部署成果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1737360"/>
            <a:ext cx="292608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 startup_profit_model.pkl 與 predict_profit()。</a:t>
            </a:r>
            <a:endParaRPr lang="en-US" sz="1020" dirty="0"/>
          </a:p>
        </p:txBody>
      </p:sp>
      <p:pic>
        <p:nvPicPr>
          <p:cNvPr id="19" name="Image 0" descr="/mnt/data/kaggle_50_startups_利潤預測概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7616" y="2651760"/>
            <a:ext cx="242628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CRISP-DM 專案地圖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Six stages used to structure the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3/20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75688" y="2450592"/>
            <a:ext cx="27432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1FAE5">
              <a:alpha val="97000"/>
            </a:srgbClr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95928" y="2450592"/>
            <a:ext cx="27432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EF3C7">
              <a:alpha val="97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16168" y="2450592"/>
            <a:ext cx="27432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EDE9FE">
              <a:alpha val="97000"/>
            </a:srgbClr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Modeling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36408" y="2450592"/>
            <a:ext cx="27432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8388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EE2E2">
              <a:alpha val="97000"/>
            </a:srgbClr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Evaluation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56648" y="2450592"/>
            <a:ext cx="27432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04120" y="18745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7272" y="1975104"/>
            <a:ext cx="1362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Deployment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776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37490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CRISP-DM 把模型開發拆成可追蹤的任務。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215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18795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每個階段都有產出：圖表、pipeline、模型、評估表。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654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62686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最後轉為可以被呼叫的預測函式。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Business Understanding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profit prediction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4/20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8872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98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商業問題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452628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或經理人希望快速估計新創公司的 Profit，並了解哪些支出最有影響。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298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13258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預測目標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4800600" cy="704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 R&amp;D、Administration、Marketing、State，輸出 Profit 預測值。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85800" y="30632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EF3C7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1729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決策價值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56616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更快比較投資標的與預算配置。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434840" y="30632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DE9FE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31729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成功標準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R² 越高越好、RMSE 越低越好。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183880" y="306324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EE2E2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31729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0" y="3200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6760" y="3566160"/>
            <a:ext cx="2697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更多特徵一定更好嗎？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Understanding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Dataset and variables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5/20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🧮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201168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50 records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429000" y="12344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1880" y="1737360"/>
            <a:ext cx="201168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Profit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Numeric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01168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/ Admin / Marketing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732520" y="12344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🏷️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35440" y="1371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Categorical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15400" y="1737360"/>
            <a:ext cx="201168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State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2960" y="29718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072384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Spend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29718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EF3C7">
              <a:alpha val="97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3072384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0" y="29718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D1FAE5">
              <a:alpha val="97000"/>
            </a:srgbClr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072384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Marketing Spend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29718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EDE9FE">
              <a:alpha val="97000"/>
            </a:srgbClr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072384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0" y="29718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EE2E2">
              <a:alpha val="97000"/>
            </a:srgbClr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4352" y="3072384"/>
            <a:ext cx="1316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Profit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資料理解重點：先看分布、相關性、州別差異，再決定特徵工程與模型策略。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EDA 圖表產出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Generated plots in the plots/ folder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6/20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81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histograms.png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011680" cy="1481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支出與 Profit 分布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130770" y="2788920"/>
            <a:ext cx="218770" cy="22860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507960" y="2446020"/>
            <a:ext cx="218770" cy="571500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875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B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1885150" y="2674620"/>
            <a:ext cx="218770" cy="342900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594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262340" y="2331720"/>
            <a:ext cx="218770" cy="685800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313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D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1051560" y="3017520"/>
            <a:ext cx="150876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37160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481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📈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97764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scatter_plots.png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0" y="1874520"/>
            <a:ext cx="2011680" cy="1481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雙變量關係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965410" y="2606040"/>
            <a:ext cx="218770" cy="41148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342600" y="2331720"/>
            <a:ext cx="218770" cy="685800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339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B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719790" y="2468880"/>
            <a:ext cx="218770" cy="548640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058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096980" y="2331720"/>
            <a:ext cx="218770" cy="685800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777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886200" y="3017520"/>
            <a:ext cx="150876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37160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481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1228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categorical_plots.png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92240" y="1874520"/>
            <a:ext cx="2011680" cy="1481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州別比較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800050" y="2468880"/>
            <a:ext cx="218770" cy="54864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7177240" y="2331720"/>
            <a:ext cx="218770" cy="685800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803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B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7554430" y="2331720"/>
            <a:ext cx="218770" cy="685800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522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931620" y="2468880"/>
            <a:ext cx="218770" cy="548640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5241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D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6720840" y="3017520"/>
            <a:ext cx="150876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0" y="137160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53728" y="1481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📈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646920" y="15087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correlation_heatmap.png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326880" y="1874520"/>
            <a:ext cx="2011680" cy="1481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Pearson 相關矩陣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9634690" y="2446020"/>
            <a:ext cx="218770" cy="57150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5548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0011880" y="2446020"/>
            <a:ext cx="218770" cy="571500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3267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B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0389070" y="2331720"/>
            <a:ext cx="218770" cy="685800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0986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0766260" y="2674620"/>
            <a:ext cx="218770" cy="342900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87050" y="307238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D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9555480" y="3017520"/>
            <a:ext cx="150876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4645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298448" y="46177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EDA 讓我們先確認資料結構與變數關係。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05840" y="5084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298448" y="50566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圖表結果指向一個明確訊息：R&amp;D Spend 是最強訊號。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EDA 關鍵發現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Correlation explains the modeling direction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7/20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258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D1FAE5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Spend ↔ Profit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4572000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高度正相關，R ≈ 0.97。這代表研發支出對 Profit 的解釋力非常強。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46520" y="132588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EE2E2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⚠️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14630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Administration ↔ Profit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1828800"/>
            <a:ext cx="4434840" cy="8869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關聯很弱，R ≈ 0.20。加入此特徵可能增加噪音。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385316" y="3657600"/>
            <a:ext cx="795528" cy="118872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901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R&amp;D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756916" y="4601223"/>
            <a:ext cx="795528" cy="245097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901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Admin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4128516" y="3927207"/>
            <a:ext cx="795528" cy="919113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4901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Marketing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411480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97764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</a:rPr>
              <a:t>初步假設：特徵不是越多越好，需用驗證集與交叉驗證確認。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Preparation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From raw columns to model-ready features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8/20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清理與檢查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278892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確認欄位型態、目標欄位與資料量。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數值處理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1737360"/>
            <a:ext cx="278892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StandardScaler 處理 numeric features。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275320" y="123444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🏷️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78240" y="1371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類別處理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1737360"/>
            <a:ext cx="278892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OneHotEncoder(drop=first) 處理 State。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828800" y="32461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334670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Raw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3566160"/>
            <a:ext cx="10515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57800" y="32461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EF3C7">
              <a:alpha val="97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334670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Preprocessor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3566160"/>
            <a:ext cx="10515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0" y="32461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1FAE5">
              <a:alpha val="97000"/>
            </a:srgbClr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9952" y="334670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 Matrix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Custom transformer design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9/20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FeatureEngineer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3337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自訂 transformer 放進 sklearn Pipeline，讓訓練與預測使用一致流程。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6360" y="1371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Interaction terms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26517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捕捉支出之間的共同效果。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909560" y="12344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📊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1371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 terms / ratios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1737360"/>
            <a:ext cx="27889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降低尺度影響，建立預算比例。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051560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44168" y="370332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把特徵工程納入 Pipeline：避免 train/test 不一致。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44168" y="414223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可重複、可部署、可維護。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608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44168" y="458114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特徵工程不是盲目增加欄位，而是讓模型看到更好的訊號。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Train / Test Split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Validation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10/20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25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✂️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test_size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26060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0.19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random_state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26060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366760" y="1325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0" y="1463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49640" y="1828800"/>
            <a:ext cx="26060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重現一致的 validation metrics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463040" y="3657600"/>
            <a:ext cx="6400800" cy="59436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657600"/>
            <a:ext cx="1508760" cy="594360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822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Train ≈ 81%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3822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Test 19%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小資料集要特別注意：評估方法會影響結論，因此固定 split 方便重現。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Modeling: 5 Algorithms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Baseline and regularized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11/20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DBEAFE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29718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可解釋、基準模型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D1FAE5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Ridge Regression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1737360"/>
            <a:ext cx="29718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L2 正則化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3C7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41080" y="1371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Lasso Regression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1737360"/>
            <a:ext cx="29718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 正則化，可稀疏化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DE9FE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729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51560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ElasticNet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29718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 + L2 混合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343400" y="30632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E2E2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31729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🌲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26280" y="3566160"/>
            <a:ext cx="29718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非線性 ensemble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77240" y="52578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模型設計重點：同時比較簡單線性模型、正則化模型與非線性模型。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 Tuning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GridSearchCV + 5-fold CV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12/20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2938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 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2194560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7764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EF3C7">
              <a:alpha val="97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192938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2194560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DE9FE">
              <a:alpha val="97000"/>
            </a:srgbClr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92938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2194560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0" y="18288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D1FAE5">
              <a:alpha val="97000"/>
            </a:srgbClr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31552" y="1929384"/>
            <a:ext cx="1362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3794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調參重點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160520"/>
            <a:ext cx="42519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Ridge、Lasso、ElasticNet 搜尋 alpha / l1_ratio 等參數。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00800" y="365760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🧪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03720" y="3794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交叉驗證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4160520"/>
            <a:ext cx="4251960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 5-fold CV，降低單一 split 的偶然性。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Feature Subsets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sequential feature groups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13/20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208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0632" y="2331720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1920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EF3C7">
              <a:alpha val="97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20208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Spend, Marketing Spend]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2331720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1920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20208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[+ State_New York]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68312" y="2331720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920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20208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[+ State_Florida]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920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202082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[+ Administration]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97280" y="3977640"/>
            <a:ext cx="98755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40873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❗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114800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實驗問題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80160" y="4480560"/>
            <a:ext cx="9555480" cy="3383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隨著特徵逐步增加，模型表現是否會提升？結果顯示：第 2 組最佳，加入 Administration 後下降。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Performance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R² score by feature subset and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14/20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429768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#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170432"/>
            <a:ext cx="3822192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23444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Selected Features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1024128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234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687568" y="1170432"/>
            <a:ext cx="1024128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234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Ridge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711696" y="1170432"/>
            <a:ext cx="1024128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1234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Lasso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735824" y="1170432"/>
            <a:ext cx="1207008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3256" y="123444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ElasticNet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942832" y="1170432"/>
            <a:ext cx="960120" cy="457200"/>
          </a:xfrm>
          <a:prstGeom prst="rect">
            <a:avLst/>
          </a:prstGeom>
          <a:solidFill>
            <a:srgbClr val="12355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70264" y="123444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11480" y="1627632"/>
            <a:ext cx="4297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691640"/>
            <a:ext cx="374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41248" y="1627632"/>
            <a:ext cx="3822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169164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Spend]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6916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0.9465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687568" y="162763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6916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0.9461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711696" y="162763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169164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0.9465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35824" y="1627632"/>
            <a:ext cx="12070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63256" y="169164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0.9463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942832" y="1627632"/>
            <a:ext cx="960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0264" y="169164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0.9328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11480" y="2359152"/>
            <a:ext cx="429768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423160"/>
            <a:ext cx="374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41248" y="2359152"/>
            <a:ext cx="3822192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242316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Spend, Marketing Spend]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4663440" y="2359152"/>
            <a:ext cx="1024128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242316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0.9474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687568" y="2359152"/>
            <a:ext cx="1024128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42316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0.9470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711696" y="2359152"/>
            <a:ext cx="1024128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9128" y="242316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0.9474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35824" y="2359152"/>
            <a:ext cx="1207008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242316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0.9473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942832" y="2359152"/>
            <a:ext cx="960120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70264" y="242316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0.9366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11480" y="3090672"/>
            <a:ext cx="4297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154680"/>
            <a:ext cx="374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841248" y="3090672"/>
            <a:ext cx="3822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15468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Spend, Marketing Spend, State_NY]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4663440" y="309067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315468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0.9460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687568" y="309067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315468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0.9458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6711696" y="309067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39128" y="315468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0.9460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735824" y="3090672"/>
            <a:ext cx="12070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63256" y="315468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0.9459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8942832" y="3090672"/>
            <a:ext cx="960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70264" y="315468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0.9366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411480" y="3822192"/>
            <a:ext cx="4297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" y="3886200"/>
            <a:ext cx="374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841248" y="3822192"/>
            <a:ext cx="3822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88620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Spend, Marketing Spend, State_NY, State_FL]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4663440" y="382219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90872" y="38862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0.9447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5687568" y="382219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38862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0.9445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6711696" y="382219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39128" y="38862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0.9447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7735824" y="3822192"/>
            <a:ext cx="12070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63256" y="388620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0.9446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8942832" y="3822192"/>
            <a:ext cx="960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70264" y="388620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0.9366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411480" y="4553712"/>
            <a:ext cx="4297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" y="4617720"/>
            <a:ext cx="374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841248" y="4553712"/>
            <a:ext cx="38221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8680" y="4617720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[R&amp;D Spend, Marketing Spend, State_NY, State_FL, Administration]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4663440" y="455371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90872" y="461772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0.9347</a:t>
            </a:r>
            <a:endParaRPr lang="en-US" sz="820" dirty="0"/>
          </a:p>
        </p:txBody>
      </p:sp>
      <p:sp>
        <p:nvSpPr>
          <p:cNvPr id="83" name="Shape 81"/>
          <p:cNvSpPr/>
          <p:nvPr/>
        </p:nvSpPr>
        <p:spPr>
          <a:xfrm>
            <a:off x="5687568" y="455371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15000" y="461772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0.9346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6711696" y="4553712"/>
            <a:ext cx="102412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39128" y="461772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0.9347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7735824" y="4553712"/>
            <a:ext cx="12070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63256" y="4617720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0.9347</a:t>
            </a:r>
            <a:endParaRPr lang="en-US" sz="820" dirty="0"/>
          </a:p>
        </p:txBody>
      </p:sp>
      <p:sp>
        <p:nvSpPr>
          <p:cNvPr id="89" name="Shape 87"/>
          <p:cNvSpPr/>
          <p:nvPr/>
        </p:nvSpPr>
        <p:spPr>
          <a:xfrm>
            <a:off x="8942832" y="4553712"/>
            <a:ext cx="960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70264" y="461772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0.9366</a:t>
            </a:r>
            <a:endParaRPr lang="en-US" sz="820" dirty="0"/>
          </a:p>
        </p:txBody>
      </p:sp>
      <p:sp>
        <p:nvSpPr>
          <p:cNvPr id="91" name="Text 89"/>
          <p:cNvSpPr/>
          <p:nvPr/>
        </p:nvSpPr>
        <p:spPr>
          <a:xfrm>
            <a:off x="2423160" y="59893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Best row: 2 features - R&amp;D Spend + Marketing Spend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Best Model Finding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Optimal feature count =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15/20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3444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EF3C7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最佳特徵數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D1FAE5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最佳組合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1737360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Spend + Marketing Spend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DBEAFE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 R²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1737360"/>
            <a:ext cx="2834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94.74%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595811" y="3430390"/>
            <a:ext cx="1124346" cy="146165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9469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1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534339" y="3429000"/>
            <a:ext cx="1124346" cy="1463040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49469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2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472867" y="3431162"/>
            <a:ext cx="1124346" cy="1460878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9469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3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411395" y="3433170"/>
            <a:ext cx="1124346" cy="1458870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9469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4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9349923" y="3448612"/>
            <a:ext cx="1124346" cy="1443428"/>
          </a:xfrm>
          <a:prstGeom prst="rect">
            <a:avLst/>
          </a:prstGeom>
          <a:solidFill>
            <a:srgbClr val="DC262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49469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5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188720" y="4892040"/>
            <a:ext cx="969264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3035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第 2 組特徵在 Linear / Lasso 上達到最高 R² = 0.9474。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Not Use All Features?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Administration overhead behaves like noise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16/20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258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D1FAE5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 Administration 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43434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 RMSE = 8,198.80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46520" y="13258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EE2E2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4356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⚠️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1463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 Administration 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1828800"/>
            <a:ext cx="434340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 RMSE = 9,137.99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291840" y="3246120"/>
            <a:ext cx="5394960" cy="9144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749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+11.4% RMSE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011680" y="466344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4773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514600" y="4800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洞察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94560" y="5166360"/>
            <a:ext cx="78181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特徵數增加不一定提升泛化能力；低相關特徵可能讓模型更不穩定。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Model Comparison Insight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 models dominated on this small tabular dataset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17/20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0612" y="1645920"/>
            <a:ext cx="1145560" cy="2103120"/>
          </a:xfrm>
          <a:prstGeom prst="rect">
            <a:avLst/>
          </a:prstGeom>
          <a:solidFill>
            <a:srgbClr val="2563EB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0390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Linear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395716" y="1646808"/>
            <a:ext cx="1145560" cy="2102232"/>
          </a:xfrm>
          <a:prstGeom prst="rect">
            <a:avLst/>
          </a:prstGeom>
          <a:solidFill>
            <a:srgbClr val="059669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380390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Ridge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5370820" y="1645920"/>
            <a:ext cx="1145560" cy="2103120"/>
          </a:xfrm>
          <a:prstGeom prst="rect">
            <a:avLst/>
          </a:prstGeom>
          <a:solidFill>
            <a:srgbClr val="F9731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380390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Lasso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7345924" y="1646142"/>
            <a:ext cx="1145560" cy="2102898"/>
          </a:xfrm>
          <a:prstGeom prst="rect">
            <a:avLst/>
          </a:prstGeom>
          <a:solidFill>
            <a:srgbClr val="7C3AED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380390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ElasticNet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9321028" y="1669895"/>
            <a:ext cx="1145560" cy="2079145"/>
          </a:xfrm>
          <a:prstGeom prst="rect">
            <a:avLst/>
          </a:prstGeom>
          <a:solidFill>
            <a:srgbClr val="DC2626">
              <a:alpha val="92000"/>
            </a:srgbClr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06256" y="380390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RF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005840" y="3749040"/>
            <a:ext cx="9875520" cy="0"/>
          </a:xfrm>
          <a:prstGeom prst="line">
            <a:avLst/>
          </a:prstGeom>
          <a:noFill/>
          <a:ln w="889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4348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EF3C7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544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🥇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Linear / Lasso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4937760"/>
            <a:ext cx="292608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 R² = 0.9474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480560" y="44348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4544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🥈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83480" y="4572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ElasticNet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63440" y="4937760"/>
            <a:ext cx="292608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表現接近，R² = 0.9473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092440" y="44348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2168" y="4544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🌲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95360" y="4572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75320" y="4937760"/>
            <a:ext cx="292608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小資料上沒有勝出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Deployment Output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Turning the pipeline into a reusable predictor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18/20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D1FAE5">
              <a:alpha val="97000"/>
            </a:srgbClr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751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startup_profit_model.pkl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10972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92040" y="18745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DE9FE">
              <a:alpha val="97000"/>
            </a:srgbClr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975104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predict_profit()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69480" y="2286000"/>
            <a:ext cx="10972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41080" y="18745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DBEAFE">
              <a:alpha val="97000"/>
            </a:srgbClr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19751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Budget Review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44168" y="370332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將最佳 pipeline 序列化，方便之後重複使用。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44168" y="414223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predict_profit() 讓使用者快速輸入預算並得到 Profit 預測。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608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44168" y="45811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部署階段讓分析結果變成實際工具。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Final Conclusions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19/20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D1FAE5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最強訊號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063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Spend 是 Profit 的核心解釋變數。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EF3C7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最佳組合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3063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R&amp;D Spend + Marketing Spend 達最佳 R²。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924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EE2E2">
              <a:alpha val="96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3441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⚠️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0" y="1371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精簡勝過堆疊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737360"/>
            <a:ext cx="3063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Administration 可能降低泛化能力。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920240" y="37033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38130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23160" y="38404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一句話總結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06240"/>
            <a:ext cx="80924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本專案證明：用 CRISP-DM 建立清楚、可重現、可部署的 Profit Prediction 流程。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Next Steps / Q&amp;A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this project can be improved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201400" y="164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50 Startups • CRISP-DM • 20/20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143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📚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資料面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2971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擴大樣本數，加入產業別、公司年齡、募資輪次。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1645920"/>
            <a:ext cx="2971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 nested CV、bootstrap uncertainty、SHAP 解釋。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92440" y="1143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🖥️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1645920"/>
            <a:ext cx="2971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Flask / Streamlit UI，讓使用者輸入預算。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788920" y="32004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Thank You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34340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Data → Insight → Impact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Kaggle 50 Startups Profit Prediction - 20 Slides</dc:title>
  <dc:subject>Kaggle 50 Startups CRISP-DM</dc:subject>
  <dc:creator>OpenAI</dc:creator>
  <cp:lastModifiedBy>OpenAI</cp:lastModifiedBy>
  <cp:revision>1</cp:revision>
  <dcterms:created xsi:type="dcterms:W3CDTF">2026-06-11T06:15:09Z</dcterms:created>
  <dcterms:modified xsi:type="dcterms:W3CDTF">2026-06-11T06:15:09Z</dcterms:modified>
</cp:coreProperties>
</file>